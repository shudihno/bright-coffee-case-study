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94488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149,116 transactions into an executive growth 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4678369"/>
            <a:ext cx="2926080" cy="0"/>
          </a:xfrm>
          <a:prstGeom prst="line">
            <a:avLst/>
          </a:prstGeom>
          <a:noFill/>
          <a:ln w="25400">
            <a:solidFill>
              <a:srgbClr val="C89F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06A67D-0DCA-F163-23C1-91B5AB7E660E}"/>
              </a:ext>
            </a:extLst>
          </p:cNvPr>
          <p:cNvSpPr/>
          <p:nvPr/>
        </p:nvSpPr>
        <p:spPr>
          <a:xfrm>
            <a:off x="7863840" y="1325880"/>
            <a:ext cx="3840480" cy="3840480"/>
          </a:xfrm>
          <a:prstGeom prst="ellipse">
            <a:avLst/>
          </a:prstGeom>
          <a:solidFill>
            <a:srgbClr val="3A2415"/>
          </a:solidFill>
          <a:ln w="12700">
            <a:solidFill>
              <a:srgbClr val="4A2F1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2F7486BD-E1D7-8D23-1AD8-6C5DDB072768}"/>
              </a:ext>
            </a:extLst>
          </p:cNvPr>
          <p:cNvSpPr/>
          <p:nvPr/>
        </p:nvSpPr>
        <p:spPr>
          <a:xfrm>
            <a:off x="8321040" y="1783080"/>
            <a:ext cx="2926080" cy="2926080"/>
          </a:xfrm>
          <a:prstGeom prst="ellipse">
            <a:avLst/>
          </a:prstGeom>
          <a:solidFill>
            <a:srgbClr val="4A2F1C"/>
          </a:solidFill>
          <a:ln w="12700">
            <a:solidFill>
              <a:srgbClr val="6F4E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FE3D1A6-59CB-B2E6-3F0C-299DB6B7EF0B}"/>
              </a:ext>
            </a:extLst>
          </p:cNvPr>
          <p:cNvSpPr/>
          <p:nvPr/>
        </p:nvSpPr>
        <p:spPr>
          <a:xfrm>
            <a:off x="8869680" y="2331720"/>
            <a:ext cx="1828800" cy="1828800"/>
          </a:xfrm>
          <a:prstGeom prst="ellipse">
            <a:avLst/>
          </a:prstGeom>
          <a:solidFill>
            <a:srgbClr val="6F4E37"/>
          </a:solidFill>
          <a:ln w="12700">
            <a:solidFill>
              <a:srgbClr val="C89F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313746E-AEE9-16EE-0C2C-BCA6E86830EE}"/>
              </a:ext>
            </a:extLst>
          </p:cNvPr>
          <p:cNvSpPr/>
          <p:nvPr/>
        </p:nvSpPr>
        <p:spPr>
          <a:xfrm>
            <a:off x="9448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REPORT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1E0112A-701C-A6A2-7DA0-5E550450907F}"/>
              </a:ext>
            </a:extLst>
          </p:cNvPr>
          <p:cNvSpPr/>
          <p:nvPr/>
        </p:nvSpPr>
        <p:spPr>
          <a:xfrm>
            <a:off x="822960" y="19659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</a:t>
            </a:r>
            <a:endParaRPr lang="en-US" sz="46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C2B432F-080B-BA02-A537-DD73DE457C41}"/>
              </a:ext>
            </a:extLst>
          </p:cNvPr>
          <p:cNvSpPr/>
          <p:nvPr/>
        </p:nvSpPr>
        <p:spPr>
          <a:xfrm>
            <a:off x="822960" y="2761488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89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42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92040E6-4C2E-BFC1-134A-D93067D9C7C6}"/>
              </a:ext>
            </a:extLst>
          </p:cNvPr>
          <p:cNvSpPr/>
          <p:nvPr/>
        </p:nvSpPr>
        <p:spPr>
          <a:xfrm>
            <a:off x="944880" y="48920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Mashudu
</a:t>
            </a:r>
            <a:r>
              <a:rPr lang="en-US" sz="1300" dirty="0">
                <a:solidFill>
                  <a:srgbClr val="BFA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
Date: Mashudu Sivhada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doubling, and mornings drive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4980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R698,812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Jan–Jun, all three stores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58444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+103.8%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444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8444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R81,678 Jan to R166,486 Jun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1908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1908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TEA SHARE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R466,358 of total revenue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905256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925372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55.6%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5372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BEFORE NOON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5372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06:00–11:59 trading window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11094415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say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52044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real, not seasonal noise: revenue rose in four consecutive months, with the largest step-up between April and May (+31.8%).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concentrated in hot drinks — Coffee (R269,952) and Tea (R196,406) contribute two thirds of revenue from a wide 80-product range.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window (06:00–11:59) alone generates R388,289; the evening window (18:00–20:59) contributes just R65,669.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stores perform within 2.8% of each other (R230,057 – R236,511), so growth is a network-wide trend, not a single-site effect.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deliver 72.1% of revenue (R503,588) — this is a commuter-led business.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E6DDD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calculated from the cleaned transaction dataset powering the Bright Coffee Shop executive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business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4980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sales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58444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214,470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444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8444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quantity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1908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R4.69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1908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908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132588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9052560" y="1325880"/>
            <a:ext cx="64008" cy="1371600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9253728" y="147218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53728" y="198424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53728" y="2221992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categories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dimensions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52044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January – June, six complete trading months.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Astoria, Hell's Kitchen, Lower Manhattan.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hierarchy: category → type → product detail.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dimensions: month, day of week, weekday/weekend, day period and 3-hour trading buckets.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2926080"/>
            <a:ext cx="5287975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6751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 &amp; tooling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35204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 initial cleaning; SQL transformations in Databricks.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time extracted, then classified into Breakfast Rush, Morning, Lunch, Afternoon and Evening.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= unit_price × transaction_qty.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 to an interactive executive dashboard, filterable across eight dimensions.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E6DDD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were excluded; every figure in this deck traces back to the cleaned dataset.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performance: growth accelerating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0014"/>
            <a:ext cx="7863840" cy="2826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32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January – June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1280160"/>
            <a:ext cx="2956255" cy="484632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896112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0" y="187452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over six months, from R81,678 to R166,486.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the only dip (R76,145) — the base month for the recovery.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March–June added R90,341 of monthly run-rate.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is the strongest month in this dataset.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61120" y="49377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EDF4EE"/>
          </a:solidFill>
          <a:ln w="12700">
            <a:solidFill>
              <a:srgbClr val="CBE0D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9006840" y="50749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+103.8% growth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→ June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E6DDD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as shown on the executive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performance: top and lowest contributors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60" y="1325880"/>
            <a:ext cx="5491200" cy="4023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94636"/>
            <a:ext cx="5303520" cy="38858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leads on both revenue (R269,952) and volume (89,250 units), with Tea second on R196,406. Packaged Chocolate is the smallest line at R4,408 — under 1% of revenue.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patterns through the 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60" y="1325880"/>
            <a:ext cx="5491200" cy="4023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94636"/>
            <a:ext cx="5303520" cy="38858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09:00–11:59 bucket is the single biggest window at R220,162 from 46,075 orders. Evening trade (18:00–20:59) is less than a third of that at R65,669.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product mix meets timing and location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538" y="1234440"/>
            <a:ext cx="6489877" cy="23317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76" y="3703320"/>
            <a:ext cx="3424567" cy="237744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076" y="3703320"/>
            <a:ext cx="3424567" cy="23774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366760" y="3703320"/>
            <a:ext cx="3276295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5"/>
          <p:cNvSpPr/>
          <p:nvPr/>
        </p:nvSpPr>
        <p:spPr>
          <a:xfrm>
            <a:off x="8595360" y="38862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flat across the week (Mon R101,677 vs Sat R96,894) but sharply peaked by day part.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(R91,406) and Brewed Chai tea (R77,082) lead the product mix.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050" dirty="0">
                <a:solidFill>
                  <a:srgbClr val="2E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revenue is near-identical, so decisions apply network-wide.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E6DDD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7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vs day-period heatmap, product-type mix and store ranking, all from the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→ evidence → business implication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DFA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" cy="841248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77240" y="160934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is compounding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60934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rose from R81,678 (Jan) to R166,486 (Jun), +103.8%.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609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and stock against a rising baseline, not last year's average.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4864" cy="841248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77240" y="255117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Mornings carry the business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55117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06:00–11:59 delivers R388,289, 55.6% of all revenue.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25511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service speed before noon; this is where revenue is won or lost.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DFA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54864" cy="841248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77240" y="34930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categories dominate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4930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R269,952 and Tea R196,406 = 66.7% of revenue.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0" y="34930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decisions outside these two lines carry limited revenue risk.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54864" cy="841248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long tail is thin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4434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weakest products together earn under R6,100.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63840" y="4434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menu to cut complexity without material revenue loss.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48656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DFA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548640" y="5248656"/>
            <a:ext cx="54864" cy="841248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777240" y="53766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Stores behave identically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53766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R230,057 – R236,511 across all three sites (2.8% spread).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63840" y="53766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changes as one network programme, not site-by-site pilots.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1225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1225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1225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7295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713232" y="145389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13232" y="1453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39903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and stock for the morning peak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12080" y="139903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46,075 orders land between 09:00 and 11:59. Align rosters and prep volumes to that window before adding cover anywhere else.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76856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13232" y="2450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13232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395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the top ten products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239572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best sellers generate R177,375. Guarantee availability of Sustainably Grown Organic Lg, Dark chocolate Lg and Latte Rg above all else.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713232" y="3447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13232" y="3447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39242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the evening window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2080" y="3392424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Evenings earn R65,669 — the weakest of five windows. Test a timed after-16:00 offer on Coffee and Bakery to lift a proven quiet period.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713232" y="44439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13232" y="4443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Rationalise the long tail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12080" y="43891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80 products, the weakest five earn under R6,100 combined. Delist or bundle them to reduce waste and simplify service.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blurRad="101600" dist="12700" dir="5400000" algn="bl" rotWithShape="0">
              <a:srgbClr val="D8CCC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713232" y="5440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F4E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713232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38581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what works across all sites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212080" y="538581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stores within 2.8% of each other, treat successful tests as network standards rather than local experiments.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growing, morning-led business with room to simplify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3E271A"/>
          </a:solidFill>
          <a:ln w="12700">
            <a:solidFill>
              <a:srgbClr val="5A3E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697480" cy="54864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R698,812 revenue from 149,116 transactions across three consistently performing stores.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3E271A"/>
          </a:solidFill>
          <a:ln w="12700">
            <a:solidFill>
              <a:srgbClr val="5A3E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697480" cy="54864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74904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487168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+103.8% is concentrated in Coffee and Tea before noon — a repeatable, well-understood demand pattern.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3E271A"/>
          </a:solidFill>
          <a:ln w="12700">
            <a:solidFill>
              <a:srgbClr val="5A3E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2697480" cy="54864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487168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one day part and two categories; evening trade and 80-product complexity dilute focus.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2600" y="18288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3E271A"/>
          </a:solidFill>
          <a:ln w="12700">
            <a:solidFill>
              <a:srgbClr val="5A3E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9372600" y="1828800"/>
            <a:ext cx="2697480" cy="54864"/>
          </a:xfrm>
          <a:prstGeom prst="rect">
            <a:avLst/>
          </a:prstGeom>
          <a:solidFill>
            <a:srgbClr val="C89F6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60120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morning capacity, run an evening offer test, and review the weakest products at the next trading meeting.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6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72541BD-C208-1AAD-0F02-71F0E9F71D3D}"/>
              </a:ext>
            </a:extLst>
          </p:cNvPr>
          <p:cNvSpPr/>
          <p:nvPr/>
        </p:nvSpPr>
        <p:spPr>
          <a:xfrm>
            <a:off x="594360" y="61950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1005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- Sales Analysis</dc:title>
  <dc:subject>PptxGenJS Presentation</dc:subject>
  <dc:creator>Bright Coffee Shop Analytics</dc:creator>
  <cp:lastModifiedBy>Mashudu Sivhada</cp:lastModifiedBy>
  <cp:revision>5</cp:revision>
  <dcterms:created xsi:type="dcterms:W3CDTF">2026-08-10T19:42:26Z</dcterms:created>
  <dcterms:modified xsi:type="dcterms:W3CDTF">2026-08-13T21:48:24Z</dcterms:modified>
</cp:coreProperties>
</file>